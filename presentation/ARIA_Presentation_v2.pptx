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BFA8">
              <a:alpha val="20000"/>
            </a:srgbClr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B388FF">
              <a:alpha val="2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spc="2400" kern="0" dirty="0">
                <a:solidFill>
                  <a:srgbClr val="5C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Robotic Interaction Assistant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24/7 AI Companion for Autistic Children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84048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0" y="5029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77824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BFA8">
              <a:alpha val="20000"/>
            </a:srgbClr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B388FF">
              <a:alpha val="2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have a child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can't tell you they're hurting.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million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C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autistic people in the world today*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the entire population of Egypt.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without consistent therapy. Most without 24/7 support.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WHO + Autism Speaks global estimate,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IN EGYPT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every Egyptian parent knows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029200" cy="1097280"/>
          </a:xfrm>
          <a:prstGeom prst="roundRect">
            <a:avLst>
              <a:gd name="adj" fmla="val 16667"/>
            </a:avLst>
          </a:prstGeom>
          <a:solidFill>
            <a:srgbClr val="F0F4FF"/>
          </a:solidFill>
          <a:ln w="1905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الأم: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ابني مش بيتكلم، هاخده فين؟ في طبيب؟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مدرسة؟ في حد يفهمه؟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3017520"/>
            <a:ext cx="5029200" cy="1097280"/>
          </a:xfrm>
          <a:prstGeom prst="roundRect">
            <a:avLst>
              <a:gd name="adj" fmla="val 16667"/>
            </a:avLst>
          </a:prstGeom>
          <a:solidFill>
            <a:srgbClr val="F0F4FF"/>
          </a:solidFill>
          <a:ln w="19050">
            <a:solidFill>
              <a:srgbClr val="B38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الطبيب: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3383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الجلسة بـ 800 جنيه. مرتين في الأسبوع.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قايمة الانتظار 6 شهور.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5029200" cy="1097280"/>
          </a:xfrm>
          <a:prstGeom prst="roundRect">
            <a:avLst>
              <a:gd name="adj" fmla="val 16667"/>
            </a:avLst>
          </a:prstGeom>
          <a:solidFill>
            <a:srgbClr val="F0F4FF"/>
          </a:solidFill>
          <a:ln w="19050">
            <a:solidFill>
              <a:srgbClr val="FF6B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الواقع: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معظم الأهالي مش قادرين، وأطفالهم بيكبروا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غير الدعم اللي محتاجينه.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5532120"/>
            <a:ext cx="5029200" cy="960120"/>
          </a:xfrm>
          <a:prstGeom prst="roundRect">
            <a:avLst>
              <a:gd name="adj" fmla="val 19048"/>
            </a:avLst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5623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5897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معاكي 24 ساعة. ببلاش. بالعامية المصرية.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WAIT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 they just use ChatGPT?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8F9FB"/>
          </a:solidFill>
          <a:ln w="12700">
            <a:solidFill>
              <a:srgbClr val="5A6F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194560"/>
            <a:ext cx="4206240" cy="548640"/>
          </a:xfrm>
          <a:prstGeom prst="roundRect">
            <a:avLst>
              <a:gd name="adj" fmla="val 25000"/>
            </a:avLst>
          </a:prstGeom>
          <a:solidFill>
            <a:srgbClr val="C0C8D4"/>
          </a:solidFill>
          <a:ln w="12700">
            <a:solidFill>
              <a:srgbClr val="C0C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ضربوني في المدرسة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475488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63240"/>
            <a:ext cx="4389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you are facing a difficult situation. </a:t>
            </a:r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is a serious issue that affects many individuals. </a:t>
            </a:r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recommend consulting with a school counselor or mental health professional. </a:t>
            </a:r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Additionally, you may consider documenting incidents for school administrators...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EAF6F8"/>
          </a:solidFill>
          <a:ln w="19050">
            <a:solidFill>
              <a:srgbClr val="00BF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2194560"/>
            <a:ext cx="4206240" cy="548640"/>
          </a:xfrm>
          <a:prstGeom prst="roundRect">
            <a:avLst>
              <a:gd name="adj" fmla="val 25000"/>
            </a:avLst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ضربوني في المدرسة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2926080"/>
            <a:ext cx="47548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يا قلبي، أنا معاك. 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3520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ايه اللي حصل بالظبط؟ ابقى احكيلي.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443484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colloquial
</a:t>
            </a:r>
            <a:pPr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feeling first
</a:t>
            </a:r>
            <a:pPr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mode triggered
</a:t>
            </a:r>
            <a:pPr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alert sent silently
</a:t>
            </a:r>
            <a:pPr indent="0" marL="0">
              <a:buNone/>
            </a:pPr>
            <a:r>
              <a:rPr lang="en-US" sz="1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in soft Egyptian voice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speaks AT autistic kids. ARIA speaks WITH them.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BFA8">
              <a:alpha val="20000"/>
            </a:srgbClr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B388FF">
              <a:alpha val="2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isn't a chatbot.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isn't a flashcard app.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isn't another "learn emotions" toy.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C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is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autism support OS.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features · 7 AI providers · 3 languages · evidence-based · 100% offline-capable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children diagnosed with autism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CDC, 2023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65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autistic children are minimally verbal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Tager-Flusberg, 2013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FF6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60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296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anxiety disorders alongside ASD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Steensel, 2011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402336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FFB7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160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58368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access to consistent therapy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 &amp; Iadarola, 2015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gap in scalable, autism-tuned AI tools that work in the home, in the moment, in the child's language.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dashboard — 22 features in one calm grid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1323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69164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41080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tuned for ASD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2404872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24505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41080" y="2450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emotion detection (CNN + VLM)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0" y="3118104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31638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41080" y="3163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zone &amp; sensory toolkit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0" y="3831336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38770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41080" y="3877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schedules &amp; timers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55280" y="4544568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45902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🗨️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641080" y="45902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(non-verbal communication)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55280" y="5257800"/>
            <a:ext cx="3840480" cy="594360"/>
          </a:xfrm>
          <a:prstGeom prst="roundRect">
            <a:avLst>
              <a:gd name="adj" fmla="val 18462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5303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641080" y="5303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bedtime &amp; social stories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teal + neon — not pink princess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Autism-friendly UI principles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layout every visit. Reduces anxiety (Schreibman et al., 2015).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sensory load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bright reds, no flashing, no harsh contrasts.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legibility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14-22pt, 4.5:1 contrast (WCAG AA).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43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not childish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look — autistic kids notice condescension.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274320" cy="27432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+ neon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Futuristic = aspiration; soft = warmth.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#00BFA8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8408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UI / trust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651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cyan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#00E5FF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8408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/ interactive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3291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purple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#B388FF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8408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smart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D9A0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green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#00D9A0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8408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safe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B73D"/>
          </a:solidFill>
          <a:ln w="12700">
            <a:solidFill>
              <a:srgbClr val="FFB7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amber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#FFB73D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784080" y="4690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only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5212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5468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#0A1428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84080" y="5330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cards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Avoided: bright red (alarm), saturated pink (gendered/childish), pure black (visual fatigue)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AI CONVERSATION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ARIA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ta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011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hands-free conversation with VAD silence detection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55280" y="2926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turns of history sent to AI for context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waveform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meter shows mic is hearing the child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4389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dialect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0" y="4754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Auto-converts MSA to colloquial via 60+ regex rules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55280" y="5303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 emotion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5528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changes based on detected emotion in real time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COMPUTER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emotion detection — CNN + VLM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01168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8"/>
                </a:solidFill>
              </a:rPr>
              <a:t>1. CNN (local, real-time)
</a:t>
            </a:r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</a:rPr>
              <a:t>MobileNetV2 trained on 3 datasets, runs on every frame at 30fps
</a:t>
            </a:r>
            <a:pPr indent="0" marL="0">
              <a:buNone/>
            </a:pPr>
            <a:r>
              <a:rPr lang="en-US" sz="1200" b="1" dirty="0">
                <a:solidFill>
                  <a:srgbClr val="B388FF"/>
                </a:solidFill>
              </a:rPr>
              <a:t>2. VLM (cloud, on-demand)
</a:t>
            </a:r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</a:rPr>
              <a:t>Llama-4-Scout vision via Groq, gives rich descriptions:
"Mazy is biting her lip, looking down. Possibly anxious."
</a:t>
            </a:r>
            <a:pPr indent="0" marL="0">
              <a:buNone/>
            </a:pPr>
            <a:r>
              <a:rPr lang="en-US" sz="1200" b="1" dirty="0">
                <a:solidFill>
                  <a:srgbClr val="1A2432"/>
                </a:solidFill>
              </a:rPr>
              <a:t>Why both?
</a:t>
            </a:r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</a:rPr>
              <a:t>Local CNN = privacy + zero latency. VLM = clinical-grade detail when needed.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recognition model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— efficient, mobile-ready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1A7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× 96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 (RGB)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· fear · joy · neutral · sadness · surprise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017520"/>
            <a:ext cx="53949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154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imgs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training set (3 datasets)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FERAC  —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 Recognition for Autistic Children (Bilkent University, 2022)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Emotion  —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autism-focused dataset, ~240 imgs/class across 6 classes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Faces  —  </a:t>
            </a:r>
            <a:pPr indent="0" marL="0">
              <a:buNone/>
            </a:pPr>
            <a:r>
              <a:rPr lang="en-US" sz="12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children facial expression dataset for diversity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CALMING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regulation &amp; emotional safety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ca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Zone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animation, comforting phrases</a:t>
            </a:r>
            <a:endParaRPr lang="en-US" sz="1100" dirty="0"/>
          </a:p>
        </p:txBody>
      </p:sp>
      <p:pic>
        <p:nvPicPr>
          <p:cNvPr id="8" name="Image 1" descr="C:\Users\Seif\Desktop\Grad project Computer app\presentation\screenshots\sens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36576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Toolkit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14984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galaxy, bubbles, color wash, shape bloom</a:t>
            </a:r>
            <a:endParaRPr lang="en-US" sz="1100" dirty="0"/>
          </a:p>
        </p:txBody>
      </p:sp>
      <p:pic>
        <p:nvPicPr>
          <p:cNvPr id="11" name="Image 2" descr="C:\Users\Seif\Desktop\Grad project Computer app\presentation\screenshots\mus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Garden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8912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noise, ocean, rain — procedural audio</a:t>
            </a:r>
            <a:endParaRPr lang="en-US" sz="1100" dirty="0"/>
          </a:p>
        </p:txBody>
      </p:sp>
      <p:pic>
        <p:nvPicPr>
          <p:cNvPr id="14" name="Image 3" descr="C:\Users\Seif\Desktop\Grad project Computer app\presentation\screenshots\thermome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365760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1498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Meter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14984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intensity scale, prevents meltdowns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verbal &amp; non-verbal children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a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Builder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pictograms, 4 categories, sentence builder + TTS</a:t>
            </a:r>
            <a:endParaRPr lang="en-US" sz="1100" dirty="0"/>
          </a:p>
        </p:txBody>
      </p:sp>
      <p:pic>
        <p:nvPicPr>
          <p:cNvPr id="8" name="Image 1" descr="C:\Users\Seif\Desktop\Grad project Computer app\presentation\screenshots\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36576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Skills Coach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14984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scenarios — bullying, sharing, asking for help</a:t>
            </a:r>
            <a:endParaRPr lang="en-US" sz="1100" dirty="0"/>
          </a:p>
        </p:txBody>
      </p:sp>
      <p:pic>
        <p:nvPicPr>
          <p:cNvPr id="11" name="Image 2" descr="C:\Users\Seif\Desktop\Grad project Computer app\presentation\screenshots\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Story Maker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8912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social stories for situations (doctor, haircut)</a:t>
            </a:r>
            <a:endParaRPr lang="en-US" sz="1100" dirty="0"/>
          </a:p>
        </p:txBody>
      </p:sp>
      <p:pic>
        <p:nvPicPr>
          <p:cNvPr id="14" name="Image 3" descr="C:\Users\Seif\Desktop\Grad project Computer app\presentation\screenshots\bedt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365760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1498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 Story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14984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story with child as hero, TTS narration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Routines, transitions &amp; rewards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Schedule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 cards, child marks tasks done</a:t>
            </a:r>
            <a:endParaRPr lang="en-US" sz="1100" dirty="0"/>
          </a:p>
        </p:txBody>
      </p:sp>
      <p:pic>
        <p:nvPicPr>
          <p:cNvPr id="8" name="Image 1" descr="C:\Users\Seif\Desktop\Grad project Computer app\presentation\screenshots\ti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36576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Timer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14984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Time-Timer style countdown with halfway warning</a:t>
            </a:r>
            <a:endParaRPr lang="en-US" sz="1100" dirty="0"/>
          </a:p>
        </p:txBody>
      </p:sp>
      <p:pic>
        <p:nvPicPr>
          <p:cNvPr id="11" name="Image 2" descr="C:\Users\Seif\Desktop\Grad project Computer app\presentation\screenshots\transi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Helper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8912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activity changes with pre-warnings</a:t>
            </a:r>
            <a:endParaRPr lang="en-US" sz="1100" dirty="0"/>
          </a:p>
        </p:txBody>
      </p:sp>
      <p:pic>
        <p:nvPicPr>
          <p:cNvPr id="14" name="Image 3" descr="C:\Users\Seif\Desktop\Grad project Computer app\presentation\screenshots\tutoria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365760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1498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Tutorials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14984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brushing teeth, washing hands, dressing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rewards &amp; coaching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ga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Mini-Games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match, memory, shapes, animal sounds, counting…</a:t>
            </a:r>
            <a:endParaRPr lang="en-US" sz="1100" dirty="0"/>
          </a:p>
        </p:txBody>
      </p:sp>
      <p:pic>
        <p:nvPicPr>
          <p:cNvPr id="8" name="Image 1" descr="C:\Users\Seif\Desktop\Grad project Computer app\presentation\screenshots\rew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36576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Jar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149840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reward system, visual jar fills with stars</a:t>
            </a:r>
            <a:endParaRPr lang="en-US" sz="1100" dirty="0"/>
          </a:p>
        </p:txBody>
      </p:sp>
      <p:pic>
        <p:nvPicPr>
          <p:cNvPr id="11" name="Image 2" descr="C:\Users\Seif\Desktop\Grad project Computer app\presentation\screenshots\coa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3657600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Coping Coach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8912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feeling, AI gives 3 personalized strategies</a:t>
            </a:r>
            <a:endParaRPr lang="en-US" sz="1100" dirty="0"/>
          </a:p>
        </p:txBody>
      </p:sp>
      <p:pic>
        <p:nvPicPr>
          <p:cNvPr id="14" name="Image 3" descr="C:\Users\Seif\Desktop\Grad project Computer app\presentation\screenshots\jour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365760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1498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Journal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149840" y="4846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check-in, 30-day heatmap, AI insights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research-grounded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Schedule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transition anxiety by 60%+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et al., 2015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Timer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task completion in ASD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&amp; Gast, 2000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Pictograms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expressive vocabulary 3-5×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47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Ganz et al., 2012 (PECS meta-analysis)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Noise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auditory overload in ASD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447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Lucker, 2013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Stories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 social skills (Cohen's d=0.62)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et al., 2011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931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Meter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Self-rating reduces meltdown frequency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Buron &amp; Curtis, 2003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Rewards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evidence in ABA therapy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5733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Carnett et al., 2014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50749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 Stories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 reduction in sleep latency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5733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Mindell et al., 2009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7-provider chain with automatic fallback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req/min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PRIMARY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8000/day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req/min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Haiku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8328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8016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38328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Llama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5577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provider rate-limits, the chain falls through automatically. Free tier covers virtually unlimited usage.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RECOMMENDATION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money were no object: Anthropic Claude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F0F4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WINNER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Llama-3.3-70B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req/min FREE forever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latency (LPU silicon)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Egyptian Arabic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mode, vision (Llama-4 Scout)
</a:t>
            </a:r>
            <a:pPr indent="0" marL="0">
              <a:buNone/>
            </a:pPr>
            <a:r>
              <a:rPr lang="en-US" sz="1300" b="1" dirty="0">
                <a:solidFill>
                  <a:srgbClr val="F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empathic than Claude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F0F4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WINNER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3.5 Sonnet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emotional reasoning of any LLM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— safest for kids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 refusing harmful prompts
</a:t>
            </a:r>
            <a:pPr indent="0" marL="0">
              <a:buNone/>
            </a:pPr>
            <a:r>
              <a:rPr lang="en-US" sz="13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Arabic + dialect handling
</a:t>
            </a:r>
            <a:pPr indent="0" marL="0">
              <a:buNone/>
            </a:pPr>
            <a:r>
              <a:rPr lang="en-US" sz="1300" b="1" dirty="0">
                <a:solidFill>
                  <a:srgbClr val="F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3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$0.80/1M input · $4/1M 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Use Groq as primary (free, 95% as good). Claude as paid premium tier.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 the hood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PySide6 (Qt 6.6)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QSS theming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QPropertyAnimation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QPainter widgets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A7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37744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(12 tables)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Multi-threading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asyncio for edge-tts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Llama-3.3-70B (Groq)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Llama-4-Scout vision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MobileNetV2 emotion CNN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Medium STT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164592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AUDIO/VIDEO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237744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pygame mixer (TTS playback)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edge-tts (Microsoft Neural)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OpenCV 4.8 (camera)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PyAudio (mic)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Arabic, English, German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0F4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🇪🇬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Arabic عامية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Salma Neural voice (TTS)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Medium 1.5GB w/ Egyptian primer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60+ MSA→Egyptian regex polisher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prompt enforcement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0F4FF"/>
          </a:solidFill>
          <a:ln w="25400">
            <a:solidFill>
              <a:srgbClr val="1A7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🇬🇧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6177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35204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Jenny Neural voice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Web Speech STT (fast)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base fallback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tier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657600" cy="4572000"/>
          </a:xfrm>
          <a:prstGeom prst="roundRect">
            <a:avLst>
              <a:gd name="adj" fmla="val 3750"/>
            </a:avLst>
          </a:prstGeom>
          <a:solidFill>
            <a:srgbClr val="F0F4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🇩🇪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5039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Deutsch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352044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Katja Neural voice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Web Speech STT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child-friendly prompts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Whisper base fallback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vulnerable users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safety filter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self-harm, violence before reaching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408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safety filter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diagnoses, medical advice, scary content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alert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comfort_mode triggers parent notification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408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PIN-locked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reports/settings require PIN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emotion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runs on-device; no face leaves machine without consent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931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&amp; delete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GDPR-style data control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safe mode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5532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 (sensory, schedule, breathing)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5074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00D9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4088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diagnosis claims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5532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disclaimer: ARIA assists, never replaces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adapts to context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🏠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features available, normal interaction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🎒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118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voice, fewer distractions, focus support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🩺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Mode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games, social stories, parent logging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🎮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37260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7260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and fun, calm not overstimulating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🌿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Mode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brightness, breathing only, quiet response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3931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🌙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361188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Mode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1188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brightness, bedtime story, no games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931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👨‍👩‍👧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49224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Mode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settings, safety controls, PIN-locked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PIN-locked oversight &amp; analytics</a:t>
            </a:r>
            <a:endParaRPr lang="en-US" sz="3600" dirty="0"/>
          </a:p>
        </p:txBody>
      </p:sp>
      <p:pic>
        <p:nvPicPr>
          <p:cNvPr id="5" name="Image 0" descr="C:\Users\Seif\Desktop\Grad project Computer app\presentation\screenshots\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64592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Overview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mood, stats, donut chart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5280" y="242316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Emotions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924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 table, color-coded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5280" y="320040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 Log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924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reviewed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55280" y="397764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Sessions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924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&amp; duration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475488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Export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924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PDF report generation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955280" y="553212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F0F4FF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5577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AI Insights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9244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Gemini-analyzed patterns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ARIA different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 + VLM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autism app combining local emotion CNN with cloud Vision-Language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4320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697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dialect 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MSA→Egyptian regex polisher + dialect-primed Whisper Medium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657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calming audio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977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noise, ocean, rain generated in real-time with numpy+pygame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7-provider fallback chain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937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Auto-switches between Groq, Cerebras, Gemini, OpenRouter when rate-limited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623560"/>
            <a:ext cx="548640" cy="548640"/>
          </a:xfrm>
          <a:prstGeom prst="ellipse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5577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task tutorials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5897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Qt-painted ADL animations with TTS narration in 3 languages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metrics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11,000+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1A7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61188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49224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Mini-games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164592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937260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FF6B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402336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FFB7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361188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02336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D9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649224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89720" y="402336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4389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937260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order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→ Welcome 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1737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background, child profiles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Talk with ARIA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2331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 → speak in Arabic → ARIA replies in Egyptian dialect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926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CNN, then 🧠 Smart Analysis for VLM rich description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Thermometer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3520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level 7 → ARIA suggests calm zone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Coping Coach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4114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'Anxious' → AI generates 3 personalized strategies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663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Garden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47091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brown noise → live waveform visualizer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30352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5257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 Story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53035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'Cozy Night' → AI writes story → TTS narrates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5897880"/>
            <a:ext cx="365760" cy="365760"/>
          </a:xfrm>
          <a:prstGeom prst="ellipse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897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5852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58978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PIN → all 5 tabs → export JSON/PDF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technical sources (1/2)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CDC. (2023). Prevalence of Autism Spectrum Disorder Among Children Aged 8 Years. MMWR Surveillance Summaries.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Tager-Flusberg, H., &amp; Kasari, C. (2013). Minimally verbal school-aged children with autism. Autism Research, 6(6), 468-478.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van Steensel, F. J., et al. (2011). Anxiety disorders in children and adolescents with ASD: A meta-analysis. Clinical Child and Family Psychology Review.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Smith, T., &amp; Iadarola, S. (2015). Evidence base update for autism spectrum disorder. Journal of Clinical Child &amp; Adolescent Psychology.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Knight, V., et al. (2015). Visual activity schedules and a graduated guidance system for ASD. Remedial and Special Education.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Bryan, L. C., &amp; Gast, D. L. (2000). Teaching on-task and on-schedule behaviors using visual schedules. Journal of Autism and Developmental Disorders.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Ganz, J. B., et al. (2012). A meta-analysis of single case research studies on aided AAC systems with ASD. Journal of Autism and Developmental Disorders.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Lucker, J. R. (2013). Auditory hypersensitivity in children with autism spectrum disorders. Focus on Autism and Other Developmental Disabilities.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Test, D. W., et al. (2011). Evidence-based practices in secondary transition. Career Development for Exceptional Individuals.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Buron, K. D., &amp; Curtis, M. (2003). The Incredible 5-Point Scale. Autism Asperger Publishing Co.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technical sources (2/2)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Carnett, A., et al. (2014). Effects of a perseverative interest-based token economy on academic engagement of students with autism. JABA.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Mindell, J. A., et al. (2009). A nightly bedtime routine: Impact on sleep in young children. Sleep, 32(5).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Schreibman, L., et al. (2015). Naturalistic Developmental Behavioral Interventions: Empirically validated treatments for ASD. JADD.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Sandler, M., et al. (2018). MobileNetV2: Inverted Residuals and Linear Bottlenecks. CVPR.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Radford, A., et al. (2023). Robust Speech Recognition via Large-Scale Weak Supervision (Whisper). OpenAI.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Touvron, H., et al. (2024). Llama 3: Training a 70B Parameter Foundation Model. Meta AI Research.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Anthropic. (2024). Claude 3.5 Sonnet Model Card. https://www.anthropic.com/news/claude-3-5-sonnet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Google DeepMind. (2024). Gemini 2.5 Technical Report. https://deepmind.google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Groq Inc. (2024). LPU Inference Architecture. https://wow.groq.com/lpu-inference-engine/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WHO. (2023). Autism — Fact sheet. https://www.who.int/news-room/fact-sheets/detail/autism-spectrum-disorders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A8"/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 THING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ARIA on Egyptian Arabic. We tested it.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4297680"/>
          </a:xfrm>
          <a:prstGeom prst="roundRect">
            <a:avLst>
              <a:gd name="adj" fmla="val 4255"/>
            </a:avLst>
          </a:prstGeom>
          <a:solidFill>
            <a:srgbClr val="F0F4FF"/>
          </a:solidFill>
          <a:ln w="25400">
            <a:solidFill>
              <a:srgbClr val="00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prompt: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احكيلي نكتة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replied: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3063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ليه السمكة بقت مهندسة؟ 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عشان لقت نفسها في مياه عميقة!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thought: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40233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...ماشي يا ARIA. مش بطلة قوي بس على الأقل بالعامية.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49834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tone-locked. Egyptian dialect: 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career: still pending. 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moment from testing — kept here because honesty &gt; polish.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094415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BFA8">
              <a:alpha val="20000"/>
            </a:srgbClr>
          </a:solidFill>
          <a:ln w="12700">
            <a:solidFill>
              <a:srgbClr val="00B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5486400" cy="5486400"/>
          </a:xfrm>
          <a:prstGeom prst="ellipse">
            <a:avLst/>
          </a:prstGeom>
          <a:solidFill>
            <a:srgbClr val="B388FF">
              <a:alpha val="2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5C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— built with care for autistic children and their families.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معاكم 24 ساعة.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— A 24/7 AI Companion for Autistic Children</dc:title>
  <dc:subject>PptxGenJS Presentation</dc:subject>
  <dc:creator>Seif</dc:creator>
  <cp:lastModifiedBy>Seif</cp:lastModifiedBy>
  <cp:revision>1</cp:revision>
  <dcterms:created xsi:type="dcterms:W3CDTF">2026-05-08T21:59:50Z</dcterms:created>
  <dcterms:modified xsi:type="dcterms:W3CDTF">2026-05-08T21:59:50Z</dcterms:modified>
</cp:coreProperties>
</file>